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1B4B"/>
        </a:solidFill>
        <a:effectLst/>
      </p:bgPr>
    </p:bg>
    <p:spTree>
      <p:nvGrpSpPr>
        <p:cNvPr id="1" name=""/>
        <p:cNvGrpSpPr/>
        <p:nvPr/>
      </p:nvGrpSpPr>
      <p:grpSpPr/>
      <p:sp>
        <p:nvSpPr>
          <p:cNvPr id="2" name="TextBox 1"/>
          <p:cNvSpPr txBox="1"/>
          <p:nvPr/>
        </p:nvSpPr>
        <p:spPr>
          <a:xfrm>
            <a:off x="914400" y="4114800"/>
            <a:ext cx="7315200" cy="1097280"/>
          </a:xfrm>
          <a:prstGeom prst="rect">
            <a:avLst/>
          </a:prstGeom>
          <a:noFill/>
          <a:ln w="9525">
            <a:noFill/>
          </a:ln>
        </p:spPr>
        <p:txBody>
          <a:bodyPr wrap="square">
            <a:normAutofit/>
          </a:bodyPr>
          <a:lstStyle/>
          <a:p>
            <a:pPr algn="just">
              <a:defRPr sz="3000">
                <a:solidFill>
                  <a:srgbClr val="F5F3FF"/>
                </a:solidFill>
                <a:latin typeface="Archivo Black"/>
              </a:defRPr>
            </a:pPr>
            <a:r>
              <a:t>Black Holes: Cosmic Phenomena of Infinite Mystery</a:t>
            </a:r>
          </a:p>
        </p:txBody>
      </p:sp>
      <p:sp>
        <p:nvSpPr>
          <p:cNvPr id="3" name="TextBox 2"/>
          <p:cNvSpPr txBox="1"/>
          <p:nvPr/>
        </p:nvSpPr>
        <p:spPr>
          <a:xfrm>
            <a:off x="1828800" y="5760720"/>
            <a:ext cx="5486400" cy="548640"/>
          </a:xfrm>
          <a:prstGeom prst="rect">
            <a:avLst/>
          </a:prstGeom>
          <a:noFill/>
          <a:ln w="9525">
            <a:noFill/>
          </a:ln>
        </p:spPr>
        <p:txBody>
          <a:bodyPr wrap="square">
            <a:normAutofit/>
          </a:bodyPr>
          <a:lstStyle/>
          <a:p>
            <a:pPr algn="just">
              <a:defRPr sz="1800">
                <a:solidFill>
                  <a:srgbClr val="F5F3FF"/>
                </a:solidFill>
                <a:latin typeface="Work Sans"/>
              </a:defRPr>
            </a:pPr>
            <a:r>
              <a:t>Regions of spacetime where gravity's pull is so intense not even light can escape.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1B4B"/>
        </a:solidFill>
        <a:effectLst/>
      </p:bgPr>
    </p:bg>
    <p:spTree>
      <p:nvGrpSpPr>
        <p:cNvPr id="1" name=""/>
        <p:cNvGrpSpPr/>
        <p:nvPr/>
      </p:nvGrpSpPr>
      <p:grpSpPr/>
      <p:sp>
        <p:nvSpPr>
          <p:cNvPr id="2" name="TextBox 1"/>
          <p:cNvSpPr txBox="1"/>
          <p:nvPr/>
        </p:nvSpPr>
        <p:spPr>
          <a:xfrm>
            <a:off x="3657600" y="914400"/>
            <a:ext cx="5029200" cy="914400"/>
          </a:xfrm>
          <a:prstGeom prst="rect">
            <a:avLst/>
          </a:prstGeom>
          <a:noFill/>
          <a:ln w="9525">
            <a:noFill/>
          </a:ln>
        </p:spPr>
        <p:txBody>
          <a:bodyPr wrap="square">
            <a:normAutofit/>
          </a:bodyPr>
          <a:lstStyle/>
          <a:p>
            <a:pPr algn="just">
              <a:defRPr sz="2000">
                <a:solidFill>
                  <a:srgbClr val="F5F3FF"/>
                </a:solidFill>
                <a:latin typeface="Archivo Black"/>
              </a:defRPr>
            </a:pPr>
            <a:r>
              <a:t>From Dark Stars to General Relativity: A Century of Gravitational Theory</a:t>
            </a:r>
          </a:p>
        </p:txBody>
      </p:sp>
      <p:sp>
        <p:nvSpPr>
          <p:cNvPr id="3" name="TextBox 2"/>
          <p:cNvSpPr txBox="1"/>
          <p:nvPr/>
        </p:nvSpPr>
        <p:spPr>
          <a:xfrm>
            <a:off x="3657600" y="2011680"/>
            <a:ext cx="5029200" cy="4114800"/>
          </a:xfrm>
          <a:prstGeom prst="rect">
            <a:avLst/>
          </a:prstGeom>
          <a:noFill/>
          <a:ln w="9525">
            <a:noFill/>
          </a:ln>
        </p:spPr>
        <p:txBody>
          <a:bodyPr wrap="square">
            <a:normAutofit/>
          </a:bodyPr>
          <a:lstStyle/>
          <a:p>
            <a:pPr algn="just">
              <a:defRPr sz="1800">
                <a:solidFill>
                  <a:srgbClr val="F5F3FF"/>
                </a:solidFill>
                <a:latin typeface="Work Sans"/>
              </a:defRPr>
            </a:pPr>
            <a:r>
              <a:t>John Michell proposed 'dark stars' in 1783, hypothesizing massive objects with gravity strong enough to prevent light escape. This Newtonian concept prefigured black holes. Einstein’s 1916 general relativity redefined gravity as spacetime curvature, mathematically predicting event horizons. Michell’s speculative idea evolved into a rigorous framework, bridging classical and relativistic astrophysics.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1B4B"/>
        </a:solidFill>
        <a:effectLst/>
      </p:bgPr>
    </p:bg>
    <p:spTree>
      <p:nvGrpSpPr>
        <p:cNvPr id="1" name=""/>
        <p:cNvGrpSpPr/>
        <p:nvPr/>
      </p:nvGrpSpPr>
      <p:grpSpPr/>
      <p:sp>
        <p:nvSpPr>
          <p:cNvPr id="2" name="TextBox 1"/>
          <p:cNvSpPr txBox="1"/>
          <p:nvPr/>
        </p:nvSpPr>
        <p:spPr>
          <a:xfrm>
            <a:off x="457200" y="457200"/>
            <a:ext cx="8229600" cy="731520"/>
          </a:xfrm>
          <a:prstGeom prst="rect">
            <a:avLst/>
          </a:prstGeom>
          <a:noFill/>
          <a:ln w="9525">
            <a:noFill/>
          </a:ln>
        </p:spPr>
        <p:txBody>
          <a:bodyPr wrap="square">
            <a:normAutofit/>
          </a:bodyPr>
          <a:lstStyle/>
          <a:p>
            <a:pPr algn="just">
              <a:defRPr sz="3000">
                <a:solidFill>
                  <a:srgbClr val="F5F3FF"/>
                </a:solidFill>
                <a:latin typeface="Archivo Black"/>
              </a:defRPr>
            </a:pPr>
            <a:r>
              <a:t>Evolution of Stellar Collapse Models</a:t>
            </a:r>
          </a:p>
        </p:txBody>
      </p:sp>
      <p:sp>
        <p:nvSpPr>
          <p:cNvPr id="3" name="Rectangle 2"/>
          <p:cNvSpPr/>
          <p:nvPr/>
        </p:nvSpPr>
        <p:spPr>
          <a:xfrm>
            <a:off x="457200" y="1645920"/>
            <a:ext cx="3886200" cy="4572000"/>
          </a:xfrm>
          <a:prstGeom prst="rect">
            <a:avLst/>
          </a:prstGeom>
          <a:solidFill>
            <a:srgbClr val="4C1D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00600" y="1645920"/>
            <a:ext cx="3886200" cy="4572000"/>
          </a:xfrm>
          <a:prstGeom prst="rect">
            <a:avLst/>
          </a:prstGeom>
          <a:solidFill>
            <a:srgbClr val="4C1D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20240"/>
            <a:ext cx="3337560" cy="4023360"/>
          </a:xfrm>
          <a:prstGeom prst="rect">
            <a:avLst/>
          </a:prstGeom>
          <a:noFill/>
          <a:ln w="9525">
            <a:noFill/>
          </a:ln>
        </p:spPr>
        <p:txBody>
          <a:bodyPr wrap="square">
            <a:normAutofit/>
          </a:bodyPr>
          <a:lstStyle/>
          <a:p>
            <a:pPr algn="just">
              <a:defRPr sz="1800">
                <a:solidFill>
                  <a:srgbClr val="F5F3FF"/>
                </a:solidFill>
                <a:latin typeface="Work Sans"/>
              </a:defRPr>
            </a:pPr>
            <a:r>
              <a:t>1916: Schwarzschild derived the first exact solution to Einstein's field equations, defining the Schwarzschild radius—the critical boundary of non-rotating black holes.</a:t>
            </a:r>
          </a:p>
        </p:txBody>
      </p:sp>
      <p:sp>
        <p:nvSpPr>
          <p:cNvPr id="6" name="TextBox 5"/>
          <p:cNvSpPr txBox="1"/>
          <p:nvPr/>
        </p:nvSpPr>
        <p:spPr>
          <a:xfrm>
            <a:off x="5074920" y="1920240"/>
            <a:ext cx="3337560" cy="4023360"/>
          </a:xfrm>
          <a:prstGeom prst="rect">
            <a:avLst/>
          </a:prstGeom>
          <a:noFill/>
          <a:ln w="9525">
            <a:noFill/>
          </a:ln>
        </p:spPr>
        <p:txBody>
          <a:bodyPr wrap="square">
            <a:normAutofit/>
          </a:bodyPr>
          <a:lstStyle/>
          <a:p>
            <a:pPr algn="just">
              <a:defRPr sz="1800">
                <a:solidFill>
                  <a:srgbClr val="F5F3FF"/>
                </a:solidFill>
                <a:latin typeface="Work Sans"/>
              </a:defRPr>
            </a:pPr>
            <a:r>
              <a:t>1930s: Chandrasekhar calculated the maximum mass (Chandrasekhar limit) a white dwarf can sustain, beyond which electron degeneracy pressure fails to counteract gravitational collapse.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1B4B"/>
        </a:solidFill>
        <a:effectLst/>
      </p:bgPr>
    </p:bg>
    <p:spTree>
      <p:nvGrpSpPr>
        <p:cNvPr id="1" name=""/>
        <p:cNvGrpSpPr/>
        <p:nvPr/>
      </p:nvGrpSpPr>
      <p:grpSpPr/>
      <p:sp>
        <p:nvSpPr>
          <p:cNvPr id="2" name="TextBox 1"/>
          <p:cNvSpPr txBox="1"/>
          <p:nvPr/>
        </p:nvSpPr>
        <p:spPr>
          <a:xfrm>
            <a:off x="457200" y="1371600"/>
            <a:ext cx="2286000" cy="3657600"/>
          </a:xfrm>
          <a:prstGeom prst="rect">
            <a:avLst/>
          </a:prstGeom>
          <a:noFill/>
          <a:ln w="9525">
            <a:noFill/>
          </a:ln>
        </p:spPr>
        <p:txBody>
          <a:bodyPr wrap="square">
            <a:normAutofit/>
          </a:bodyPr>
          <a:lstStyle/>
          <a:p>
            <a:pPr algn="just">
              <a:defRPr sz="3000">
                <a:solidFill>
                  <a:srgbClr val="F5F3FF"/>
                </a:solidFill>
                <a:latin typeface="Archivo Black"/>
              </a:defRPr>
            </a:pPr>
            <a:r>
              <a:t>1960s-70s Breakthroughs in Black Hole Physics</a:t>
            </a:r>
          </a:p>
        </p:txBody>
      </p:sp>
      <p:sp>
        <p:nvSpPr>
          <p:cNvPr id="3" name="TextBox 2"/>
          <p:cNvSpPr txBox="1"/>
          <p:nvPr/>
        </p:nvSpPr>
        <p:spPr>
          <a:xfrm>
            <a:off x="3200400" y="1371600"/>
            <a:ext cx="5486400" cy="4572000"/>
          </a:xfrm>
          <a:prstGeom prst="rect">
            <a:avLst/>
          </a:prstGeom>
          <a:noFill/>
          <a:ln w="9525">
            <a:noFill/>
          </a:ln>
        </p:spPr>
        <p:txBody>
          <a:bodyPr wrap="square">
            <a:normAutofit/>
          </a:bodyPr>
          <a:lstStyle/>
          <a:p>
            <a:pPr algn="just">
              <a:defRPr sz="1800">
                <a:solidFill>
                  <a:srgbClr val="F5F3FF"/>
                </a:solidFill>
                <a:latin typeface="Work Sans"/>
              </a:defRPr>
            </a:pPr>
            <a:r>
              <a:t>• Introduction of 'black hole' terminology in 1967 popularized the concept of gravitational collapse and event horizons in astrophysical discourse</a:t>
            </a:r>
          </a:p>
          <a:p>
            <a:pPr algn="just">
              <a:defRPr sz="1800">
                <a:solidFill>
                  <a:srgbClr val="F5F3FF"/>
                </a:solidFill>
              </a:defRPr>
            </a:pPr>
            <a:r>
              <a:t>• Penrose's 1965 singularity theorems mathematically demonstrated inevitable spacetime singularities under general relativity conditions</a:t>
            </a:r>
          </a:p>
          <a:p>
            <a:pPr algn="just">
              <a:defRPr sz="1800">
                <a:solidFill>
                  <a:srgbClr val="F5F3FF"/>
                </a:solidFill>
              </a:defRPr>
            </a:pPr>
            <a:r>
              <a:t>• Hawking radiation (1974) proposed quantum particle emission from black holes, bridging quantum mechanics and gravitational theory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E1B4B"/>
        </a:solidFill>
        <a:effectLst/>
      </p:bgPr>
    </p:bg>
    <p:spTree>
      <p:nvGrpSpPr>
        <p:cNvPr id="1" name=""/>
        <p:cNvGrpSpPr/>
        <p:nvPr/>
      </p:nvGrpSpPr>
      <p:grpSpPr/>
      <p:sp>
        <p:nvSpPr>
          <p:cNvPr id="3" name="TextBox 2"/>
          <p:cNvSpPr txBox="1"/>
          <p:nvPr/>
        </p:nvSpPr>
        <p:spPr>
          <a:xfrm>
            <a:off x="457200" y="457200"/>
            <a:ext cx="2743200" cy="5943600"/>
          </a:xfrm>
          <a:prstGeom prst="rect">
            <a:avLst/>
          </a:prstGeom>
          <a:noFill/>
          <a:ln w="9525">
            <a:noFill/>
          </a:ln>
        </p:spPr>
        <p:txBody>
          <a:bodyPr wrap="square">
            <a:normAutofit/>
          </a:bodyPr>
          <a:lstStyle/>
          <a:p>
            <a:pPr algn="just">
              <a:defRPr sz="1800">
                <a:solidFill>
                  <a:srgbClr val="F5F3FF"/>
                </a:solidFill>
                <a:latin typeface="Work Sans"/>
              </a:defRPr>
            </a:pPr>
            <a:r>
              <a:t>The 2019 M87* image confirmed Einstein's general relativity predictions. The glowing ring (1.3 trillion km across) marks the event horizon, while the shadow reveals spacetime curvature. Captured by the Event Horizon Telescope's global network, this visualization translated radio wave data into visible light, proving black holes' existence and showcasing their immense mass (6.5 billion suns) 55 million light-years away.</a:t>
            </a:r>
          </a:p>
        </p:txBody>
      </p:sp>
      <p:pic>
        <p:nvPicPr>
          <p:cNvPr id="4" name="Picture 3" descr="the_first_direct_image_of_a_black_hole_m87_captured_in_2019_center_shows_a_dark.jpg"/>
          <p:cNvPicPr>
            <a:picLocks noChangeAspect="1"/>
          </p:cNvPicPr>
          <p:nvPr/>
        </p:nvPicPr>
        <p:blipFill>
          <a:blip r:embed="rId2"/>
          <a:stretch>
            <a:fillRect/>
          </a:stretch>
        </p:blipFill>
        <p:spPr>
          <a:xfrm>
            <a:off x="3657600" y="457200"/>
            <a:ext cx="5029200" cy="59436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E1B4B"/>
        </a:solidFill>
        <a:effectLst/>
      </p:bgPr>
    </p:bg>
    <p:spTree>
      <p:nvGrpSpPr>
        <p:cNvPr id="1" name=""/>
        <p:cNvGrpSpPr/>
        <p:nvPr/>
      </p:nvGrpSpPr>
      <p:grpSpPr/>
      <p:sp>
        <p:nvSpPr>
          <p:cNvPr id="2" name="TextBox 1"/>
          <p:cNvSpPr txBox="1"/>
          <p:nvPr/>
        </p:nvSpPr>
        <p:spPr>
          <a:xfrm>
            <a:off x="1371600" y="2286000"/>
            <a:ext cx="2743200" cy="2743200"/>
          </a:xfrm>
          <a:prstGeom prst="rect">
            <a:avLst/>
          </a:prstGeom>
          <a:noFill/>
          <a:ln w="9525">
            <a:noFill/>
          </a:ln>
        </p:spPr>
        <p:txBody>
          <a:bodyPr wrap="square">
            <a:normAutofit/>
          </a:bodyPr>
          <a:lstStyle/>
          <a:p>
            <a:pPr algn="just">
              <a:defRPr sz="1400">
                <a:solidFill>
                  <a:srgbClr val="F5F3FF"/>
                </a:solidFill>
                <a:latin typeface="Work Sans"/>
              </a:defRPr>
            </a:pPr>
            <a:r>
              <a:t>Theoretical Predictions</a:t>
            </a:r>
          </a:p>
          <a:p>
            <a:pPr algn="just">
              <a:defRPr sz="1400">
                <a:solidFill>
                  <a:srgbClr val="F5F3FF"/>
                </a:solidFill>
              </a:defRPr>
            </a:pPr>
          </a:p>
          <a:p>
            <a:pPr algn="just">
              <a:defRPr sz="1400">
                <a:solidFill>
                  <a:srgbClr val="F5F3FF"/>
                </a:solidFill>
              </a:defRPr>
            </a:pPr>
            <a:r>
              <a:t>1970s-80s: Cosmic microwave background radiation (CMB) fluctuations predicted by inflationary models</a:t>
            </a:r>
          </a:p>
          <a:p>
            <a:pPr algn="just">
              <a:defRPr sz="1400">
                <a:solidFill>
                  <a:srgbClr val="F5F3FF"/>
                </a:solidFill>
              </a:defRPr>
            </a:pPr>
            <a:r>
              <a:t>1980s: Cold dark matter (CDM) frameworks dominate structure formation theories</a:t>
            </a:r>
          </a:p>
          <a:p>
            <a:pPr algn="just">
              <a:defRPr sz="1400">
                <a:solidFill>
                  <a:srgbClr val="F5F3FF"/>
                </a:solidFill>
              </a:defRPr>
            </a:pPr>
            <a:r>
              <a:t>1990s: Lambda-CDM model forecasts accelerated universe expansion from dark energy</a:t>
            </a:r>
          </a:p>
        </p:txBody>
      </p:sp>
      <p:sp>
        <p:nvSpPr>
          <p:cNvPr id="3" name="TextBox 2"/>
          <p:cNvSpPr txBox="1"/>
          <p:nvPr/>
        </p:nvSpPr>
        <p:spPr>
          <a:xfrm>
            <a:off x="5029200" y="2286000"/>
            <a:ext cx="2743200" cy="2743200"/>
          </a:xfrm>
          <a:prstGeom prst="rect">
            <a:avLst/>
          </a:prstGeom>
          <a:noFill/>
          <a:ln w="9525">
            <a:noFill/>
          </a:ln>
        </p:spPr>
        <p:txBody>
          <a:bodyPr wrap="square">
            <a:normAutofit/>
          </a:bodyPr>
          <a:lstStyle/>
          <a:p>
            <a:pPr algn="just">
              <a:defRPr sz="1300">
                <a:solidFill>
                  <a:srgbClr val="F5F3FF"/>
                </a:solidFill>
                <a:latin typeface="Work Sans"/>
              </a:defRPr>
            </a:pPr>
            <a:r>
              <a:t>Observational Evidence</a:t>
            </a:r>
          </a:p>
          <a:p>
            <a:pPr algn="just">
              <a:defRPr sz="1300">
                <a:solidFill>
                  <a:srgbClr val="F5F3FF"/>
                </a:solidFill>
              </a:defRPr>
            </a:pPr>
          </a:p>
          <a:p>
            <a:pPr algn="just">
              <a:defRPr sz="1300">
                <a:solidFill>
                  <a:srgbClr val="F5F3FF"/>
                </a:solidFill>
              </a:defRPr>
            </a:pPr>
            <a:r>
              <a:t>1990s COBE/WMAP: First detailed CMB temperature maps confirming inflation</a:t>
            </a:r>
          </a:p>
          <a:p>
            <a:pPr algn="just">
              <a:defRPr sz="1300">
                <a:solidFill>
                  <a:srgbClr val="F5F3FF"/>
                </a:solidFill>
              </a:defRPr>
            </a:pPr>
            <a:r>
              <a:t>2000s: Sloan Digital Sky Survey reveals large-scale structure matching dark matter predictions</a:t>
            </a:r>
          </a:p>
          <a:p>
            <a:pPr algn="just">
              <a:defRPr sz="1300">
                <a:solidFill>
                  <a:srgbClr val="F5F3FF"/>
                </a:solidFill>
              </a:defRPr>
            </a:pPr>
            <a:r>
              <a:t>2005-2010: Supernova surveys validate accelerating expansion via redshift-distance relationships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E1B4B"/>
        </a:solidFill>
        <a:effectLst/>
      </p:bgPr>
    </p:bg>
    <p:spTree>
      <p:nvGrpSpPr>
        <p:cNvPr id="1" name=""/>
        <p:cNvGrpSpPr/>
        <p:nvPr/>
      </p:nvGrpSpPr>
      <p:grpSpPr/>
      <p:sp>
        <p:nvSpPr>
          <p:cNvPr id="2" name="TextBox 1"/>
          <p:cNvSpPr txBox="1"/>
          <p:nvPr/>
        </p:nvSpPr>
        <p:spPr>
          <a:xfrm>
            <a:off x="457200" y="2743200"/>
            <a:ext cx="8229600" cy="1371600"/>
          </a:xfrm>
          <a:prstGeom prst="rect">
            <a:avLst/>
          </a:prstGeom>
          <a:noFill/>
          <a:ln w="9525">
            <a:noFill/>
          </a:ln>
        </p:spPr>
        <p:txBody>
          <a:bodyPr wrap="square">
            <a:normAutofit/>
          </a:bodyPr>
          <a:lstStyle/>
          <a:p>
            <a:pPr algn="just">
              <a:defRPr sz="2600">
                <a:solidFill>
                  <a:srgbClr val="F5F3FF"/>
                </a:solidFill>
                <a:latin typeface="Archivo Black"/>
              </a:defRPr>
            </a:pPr>
            <a:r>
              <a:t>2015 LIGO Gravitational Wave Detection Confirmed Einstein's Century-Old Prediction Marking a Transformative Moment in Astrophysics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E1B4B"/>
        </a:solidFill>
        <a:effectLst/>
      </p:bgPr>
    </p:bg>
    <p:spTree>
      <p:nvGrpSpPr>
        <p:cNvPr id="1" name=""/>
        <p:cNvGrpSpPr/>
        <p:nvPr/>
      </p:nvGrpSpPr>
      <p:grpSpPr/>
      <p:sp>
        <p:nvSpPr>
          <p:cNvPr id="2" name="TextBox 1"/>
          <p:cNvSpPr txBox="1"/>
          <p:nvPr/>
        </p:nvSpPr>
        <p:spPr>
          <a:xfrm>
            <a:off x="1828800" y="731520"/>
            <a:ext cx="5486400" cy="914400"/>
          </a:xfrm>
          <a:prstGeom prst="rect">
            <a:avLst/>
          </a:prstGeom>
          <a:noFill/>
          <a:ln w="9525">
            <a:noFill/>
          </a:ln>
        </p:spPr>
        <p:txBody>
          <a:bodyPr wrap="square">
            <a:normAutofit/>
          </a:bodyPr>
          <a:lstStyle/>
          <a:p>
            <a:pPr algn="just">
              <a:defRPr sz="2900">
                <a:solidFill>
                  <a:srgbClr val="F5F3FF"/>
                </a:solidFill>
                <a:latin typeface="Archivo Black"/>
              </a:defRPr>
            </a:pPr>
            <a:r>
              <a:t>Quantum Gravity: Open Questions and Future Directions</a:t>
            </a:r>
          </a:p>
        </p:txBody>
      </p:sp>
      <p:sp>
        <p:nvSpPr>
          <p:cNvPr id="3" name="TextBox 2"/>
          <p:cNvSpPr txBox="1"/>
          <p:nvPr/>
        </p:nvSpPr>
        <p:spPr>
          <a:xfrm>
            <a:off x="1828800" y="2011680"/>
            <a:ext cx="5486400" cy="4114800"/>
          </a:xfrm>
          <a:prstGeom prst="rect">
            <a:avLst/>
          </a:prstGeom>
          <a:noFill/>
          <a:ln w="9525">
            <a:noFill/>
          </a:ln>
        </p:spPr>
        <p:txBody>
          <a:bodyPr wrap="square">
            <a:normAutofit/>
          </a:bodyPr>
          <a:lstStyle/>
          <a:p>
            <a:pPr algn="just">
              <a:defRPr sz="1700">
                <a:solidFill>
                  <a:srgbClr val="F5F3FF"/>
                </a:solidFill>
                <a:latin typeface="Work Sans"/>
              </a:defRPr>
            </a:pPr>
            <a:r>
              <a:t>Quantum gravity remains one of physics' most profound challenges, as reconciling general relativity with quantum mechanics eludes a unified framework. Key unresolved issues include the measurement problem in quantum spacetime, the nature of singularities, and the absence of experimental verification. Future research may focus on developing novel mathematical formalisms, leveraging high-energy cosmological observations, advancing particle accelerator technologies, and exploring quantum computing simulations. Collaborative efforts across theoretical physics, mathematics, and observational astronomy will be critical in addressing these open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