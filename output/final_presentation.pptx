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914400" y="4114800"/>
            <a:ext cx="7315200" cy="1097280"/>
          </a:xfrm>
          <a:prstGeom prst="rect">
            <a:avLst/>
          </a:prstGeom>
          <a:noFill/>
          <a:ln w="9525">
            <a:noFill/>
          </a:ln>
        </p:spPr>
        <p:txBody>
          <a:bodyPr wrap="square">
            <a:normAutofit/>
          </a:bodyPr>
          <a:lstStyle/>
          <a:p>
            <a:pPr algn="just">
              <a:defRPr sz="3000">
                <a:solidFill>
                  <a:srgbClr val="F9FAFB"/>
                </a:solidFill>
                <a:latin typeface="Playfair Display"/>
              </a:defRPr>
            </a:pPr>
            <a:r>
              <a:t>Unlocking the Future of Innovation</a:t>
            </a:r>
          </a:p>
        </p:txBody>
      </p:sp>
      <p:sp>
        <p:nvSpPr>
          <p:cNvPr id="3" name="TextBox 2"/>
          <p:cNvSpPr txBox="1"/>
          <p:nvPr/>
        </p:nvSpPr>
        <p:spPr>
          <a:xfrm>
            <a:off x="1828800" y="5760720"/>
            <a:ext cx="5486400" cy="548640"/>
          </a:xfrm>
          <a:prstGeom prst="rect">
            <a:avLst/>
          </a:prstGeom>
          <a:noFill/>
          <a:ln w="9525">
            <a:noFill/>
          </a:ln>
        </p:spPr>
        <p:txBody>
          <a:bodyPr wrap="square">
            <a:normAutofit/>
          </a:bodyPr>
          <a:lstStyle/>
          <a:p>
            <a:pPr algn="just">
              <a:defRPr sz="1800">
                <a:solidFill>
                  <a:srgbClr val="F9FAFB"/>
                </a:solidFill>
                <a:latin typeface="Lato"/>
              </a:defRPr>
            </a:pPr>
            <a:r>
              <a:t>Transforming Ideas into Impact Through Strategic 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3657600" y="914400"/>
            <a:ext cx="5029200" cy="914400"/>
          </a:xfrm>
          <a:prstGeom prst="rect">
            <a:avLst/>
          </a:prstGeom>
          <a:noFill/>
          <a:ln w="9525">
            <a:noFill/>
          </a:ln>
        </p:spPr>
        <p:txBody>
          <a:bodyPr wrap="square">
            <a:normAutofit/>
          </a:bodyPr>
          <a:lstStyle/>
          <a:p>
            <a:pPr algn="just">
              <a:defRPr sz="2100">
                <a:solidFill>
                  <a:srgbClr val="F9FAFB"/>
                </a:solidFill>
                <a:latin typeface="Playfair Display"/>
              </a:defRPr>
            </a:pPr>
            <a:r>
              <a:t>Mickey Mouse's 1928 Debut: Steamboat Willie's Technical Innovations</a:t>
            </a:r>
          </a:p>
        </p:txBody>
      </p:sp>
      <p:sp>
        <p:nvSpPr>
          <p:cNvPr id="3" name="TextBox 2"/>
          <p:cNvSpPr txBox="1"/>
          <p:nvPr/>
        </p:nvSpPr>
        <p:spPr>
          <a:xfrm>
            <a:off x="3657600" y="2011680"/>
            <a:ext cx="5029200" cy="4114800"/>
          </a:xfrm>
          <a:prstGeom prst="rect">
            <a:avLst/>
          </a:prstGeom>
          <a:noFill/>
          <a:ln w="9525">
            <a:noFill/>
          </a:ln>
        </p:spPr>
        <p:txBody>
          <a:bodyPr wrap="square">
            <a:normAutofit/>
          </a:bodyPr>
          <a:lstStyle/>
          <a:p>
            <a:pPr algn="just">
              <a:defRPr sz="1800">
                <a:solidFill>
                  <a:srgbClr val="F9FAFB"/>
                </a:solidFill>
                <a:latin typeface="Lato"/>
              </a:defRPr>
            </a:pPr>
            <a:r>
              <a:t>In 1928, Walt Disney introduced Steamboat Willie, revolutionizing animation with synchronized sound. The film utilized Disney's patented 'Disney Sound System,' aligning precise audio effects (whistles, steam, and dialogue) with on-screen actions via precise frame-by-frame timing. It was the first animated film to fully integrate music, sound effects, and character vocals, setting a new standard for Hollywood. This breakthrough, achieved through collaboration with Ub Iwerks, cemented animated sound as a narrative tool and launched Mickey Mouse as a global icon.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a:ln w="9525">
            <a:noFill/>
          </a:ln>
        </p:spPr>
        <p:txBody>
          <a:bodyPr wrap="square">
            <a:normAutofit/>
          </a:bodyPr>
          <a:lstStyle/>
          <a:p>
            <a:pPr algn="just">
              <a:defRPr sz="2500">
                <a:solidFill>
                  <a:srgbClr val="F9FAFB"/>
                </a:solidFill>
                <a:latin typeface="Playfair Display"/>
              </a:defRPr>
            </a:pPr>
            <a:r>
              <a:t>1930s–1940s: Design Evolution &amp; Cultural Shifts</a:t>
            </a:r>
          </a:p>
        </p:txBody>
      </p:sp>
      <p:sp>
        <p:nvSpPr>
          <p:cNvPr id="3" name="Rectangle 2"/>
          <p:cNvSpPr/>
          <p:nvPr/>
        </p:nvSpPr>
        <p:spPr>
          <a:xfrm>
            <a:off x="457200" y="1645920"/>
            <a:ext cx="3886200" cy="4572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00600" y="1645920"/>
            <a:ext cx="3886200" cy="4572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3337560" cy="4023360"/>
          </a:xfrm>
          <a:prstGeom prst="rect">
            <a:avLst/>
          </a:prstGeom>
          <a:noFill/>
          <a:ln w="9525">
            <a:noFill/>
          </a:ln>
        </p:spPr>
        <p:txBody>
          <a:bodyPr wrap="square">
            <a:normAutofit/>
          </a:bodyPr>
          <a:lstStyle/>
          <a:p>
            <a:pPr algn="just">
              <a:defRPr sz="1600">
                <a:solidFill>
                  <a:srgbClr val="F9FAFB"/>
                </a:solidFill>
                <a:latin typeface="Lato"/>
              </a:defRPr>
            </a:pPr>
            <a:r>
              <a:t>1930s: Art Deco peaks in architecture and industrial design, emphasizing geometric forms and luxury materials.</a:t>
            </a:r>
          </a:p>
          <a:p>
            <a:pPr algn="just">
              <a:defRPr sz="1600">
                <a:solidFill>
                  <a:srgbClr val="F9FAFB"/>
                </a:solidFill>
              </a:defRPr>
            </a:pPr>
          </a:p>
          <a:p>
            <a:pPr algn="just">
              <a:defRPr sz="1600">
                <a:solidFill>
                  <a:srgbClr val="F9FAFB"/>
                </a:solidFill>
              </a:defRPr>
            </a:pPr>
            <a:r>
              <a:t>1940s: Wartime constraints drive minimalist 'utilitarian design'—streamlined steel and molded plastic replace ornate elements.</a:t>
            </a:r>
          </a:p>
          <a:p>
            <a:pPr algn="just">
              <a:defRPr sz="1600">
                <a:solidFill>
                  <a:srgbClr val="F9FAFB"/>
                </a:solidFill>
              </a:defRPr>
            </a:pPr>
          </a:p>
          <a:p>
            <a:pPr algn="just">
              <a:defRPr sz="1600">
                <a:solidFill>
                  <a:srgbClr val="F9FAFB"/>
                </a:solidFill>
              </a:defRPr>
            </a:pPr>
            <a:r>
              <a:t>Post-war modernism emerges, prioritizing function over form with International Style architecture and Bauhaus-inspired furniture.</a:t>
            </a:r>
          </a:p>
        </p:txBody>
      </p:sp>
      <p:sp>
        <p:nvSpPr>
          <p:cNvPr id="6" name="TextBox 5"/>
          <p:cNvSpPr txBox="1"/>
          <p:nvPr/>
        </p:nvSpPr>
        <p:spPr>
          <a:xfrm>
            <a:off x="5074920" y="1920240"/>
            <a:ext cx="3337560" cy="4023360"/>
          </a:xfrm>
          <a:prstGeom prst="rect">
            <a:avLst/>
          </a:prstGeom>
          <a:noFill/>
          <a:ln w="9525">
            <a:noFill/>
          </a:ln>
        </p:spPr>
        <p:txBody>
          <a:bodyPr wrap="square">
            <a:normAutofit/>
          </a:bodyPr>
          <a:lstStyle/>
          <a:p>
            <a:pPr algn="just">
              <a:defRPr sz="1700">
                <a:solidFill>
                  <a:srgbClr val="F9FAFB"/>
                </a:solidFill>
                <a:latin typeface="Lato"/>
              </a:defRPr>
            </a:pPr>
            <a:r>
              <a:t>1930s: Great Depression fuels populist art like New Deal murals; cinema and jazz become mass cultural escapes.</a:t>
            </a:r>
          </a:p>
          <a:p>
            <a:pPr algn="just">
              <a:defRPr sz="1700">
                <a:solidFill>
                  <a:srgbClr val="F9FAFB"/>
                </a:solidFill>
              </a:defRPr>
            </a:pPr>
          </a:p>
          <a:p>
            <a:pPr algn="just">
              <a:defRPr sz="1700">
                <a:solidFill>
                  <a:srgbClr val="F9FAFB"/>
                </a:solidFill>
              </a:defRPr>
            </a:pPr>
            <a:r>
              <a:t>1940s: WWII propaganda shapes public messaging through posters and radio; rationing sparks DIY culture.</a:t>
            </a:r>
          </a:p>
          <a:p>
            <a:pPr algn="just">
              <a:defRPr sz="1700">
                <a:solidFill>
                  <a:srgbClr val="F9FAFB"/>
                </a:solidFill>
              </a:defRPr>
            </a:pPr>
          </a:p>
          <a:p>
            <a:pPr algn="just">
              <a:defRPr sz="1700">
                <a:solidFill>
                  <a:srgbClr val="F9FAFB"/>
                </a:solidFill>
              </a:defRPr>
            </a:pPr>
            <a:r>
              <a:t>1945: GI Bill transforms education and housing, seeding suburban culture and mid-century modern aesthetics.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3" name="TextBox 2"/>
          <p:cNvSpPr txBox="1"/>
          <p:nvPr/>
        </p:nvSpPr>
        <p:spPr>
          <a:xfrm>
            <a:off x="457200" y="457200"/>
            <a:ext cx="2743200" cy="5943600"/>
          </a:xfrm>
          <a:prstGeom prst="rect">
            <a:avLst/>
          </a:prstGeom>
          <a:noFill/>
          <a:ln w="9525">
            <a:noFill/>
          </a:ln>
        </p:spPr>
        <p:txBody>
          <a:bodyPr wrap="square">
            <a:normAutofit/>
          </a:bodyPr>
          <a:lstStyle/>
          <a:p>
            <a:pPr algn="just">
              <a:defRPr sz="1500">
                <a:solidFill>
                  <a:srgbClr val="F9FAFB"/>
                </a:solidFill>
                <a:latin typeface="Lato"/>
              </a:defRPr>
            </a:pPr>
            <a:r>
              <a:t>Television's rise in the 1950s-60s transformed American life. By 1955, 60% of households owned TV sets as networks like NBC and CBS expanded programming. Early shows like 'I Love Lucy' pioneered live studio audiences and multi-camera formats. The 1960s saw color TV adoption, with broadcasts covering civil rights marches and the space race. Primetime evolved from family sitcoms to include news and educational content, establishing TV as both entertainment and information gateway. This era laid the foundation for modern media's dual role in uniting and dividing public discourse.</a:t>
            </a:r>
          </a:p>
        </p:txBody>
      </p:sp>
      <p:pic>
        <p:nvPicPr>
          <p:cNvPr id="4" name="Picture 3" descr="archival_photograph_of_a_1950s_cathoderay_television_set_glowing_in_a_dimly_lit.jpg"/>
          <p:cNvPicPr>
            <a:picLocks noChangeAspect="1"/>
          </p:cNvPicPr>
          <p:nvPr/>
        </p:nvPicPr>
        <p:blipFill>
          <a:blip r:embed="rId2"/>
          <a:stretch>
            <a:fillRect/>
          </a:stretch>
        </p:blipFill>
        <p:spPr>
          <a:xfrm>
            <a:off x="3657600" y="457200"/>
            <a:ext cx="5029200" cy="5943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0"/>
            <a:ext cx="457200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457200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3657600" cy="914400"/>
          </a:xfrm>
          <a:prstGeom prst="rect">
            <a:avLst/>
          </a:prstGeom>
          <a:noFill/>
          <a:ln w="9525">
            <a:noFill/>
          </a:ln>
        </p:spPr>
        <p:txBody>
          <a:bodyPr wrap="square">
            <a:normAutofit/>
          </a:bodyPr>
          <a:lstStyle/>
          <a:p>
            <a:pPr algn="just">
              <a:defRPr sz="3000">
                <a:solidFill>
                  <a:srgbClr val="F9FAFB"/>
                </a:solidFill>
                <a:latin typeface="Lato"/>
              </a:defRPr>
            </a:pPr>
            <a:r>
              <a:t>Geographic Expansion (1970s-1990s)</a:t>
            </a:r>
          </a:p>
        </p:txBody>
      </p:sp>
      <p:sp>
        <p:nvSpPr>
          <p:cNvPr id="5" name="TextBox 4"/>
          <p:cNvSpPr txBox="1"/>
          <p:nvPr/>
        </p:nvSpPr>
        <p:spPr>
          <a:xfrm>
            <a:off x="457200" y="3108960"/>
            <a:ext cx="3657600" cy="2743200"/>
          </a:xfrm>
          <a:prstGeom prst="rect">
            <a:avLst/>
          </a:prstGeom>
          <a:noFill/>
          <a:ln w="9525">
            <a:noFill/>
          </a:ln>
        </p:spPr>
        <p:txBody>
          <a:bodyPr wrap="square">
            <a:normAutofit/>
          </a:bodyPr>
          <a:lstStyle/>
          <a:p>
            <a:pPr algn="just">
              <a:defRPr sz="1500">
                <a:solidFill>
                  <a:srgbClr val="F9FAFB"/>
                </a:solidFill>
                <a:latin typeface="Lato"/>
              </a:defRPr>
            </a:pPr>
            <a:r>
              <a:t>Companies established operations in Asia, Latin America, and Eastern Europe. Key drivers included economic reforms, trade agreements, and regional market liberalization. Japanese electronics firms expanded into the U.S., while European automakers entered South America. By the 1990s, multinational supply chains spanned three continents, prioritizing cost efficiency and access to emerging markets.</a:t>
            </a:r>
          </a:p>
        </p:txBody>
      </p:sp>
      <p:sp>
        <p:nvSpPr>
          <p:cNvPr id="6" name="TextBox 5"/>
          <p:cNvSpPr txBox="1"/>
          <p:nvPr/>
        </p:nvSpPr>
        <p:spPr>
          <a:xfrm>
            <a:off x="5029200" y="2011680"/>
            <a:ext cx="3657600" cy="914400"/>
          </a:xfrm>
          <a:prstGeom prst="rect">
            <a:avLst/>
          </a:prstGeom>
          <a:noFill/>
          <a:ln w="9525">
            <a:noFill/>
          </a:ln>
        </p:spPr>
        <p:txBody>
          <a:bodyPr wrap="square">
            <a:normAutofit/>
          </a:bodyPr>
          <a:lstStyle/>
          <a:p>
            <a:pPr algn="just">
              <a:defRPr sz="2600">
                <a:solidFill>
                  <a:srgbClr val="F9FAFB"/>
                </a:solidFill>
                <a:latin typeface="Lato"/>
              </a:defRPr>
            </a:pPr>
            <a:r>
              <a:t>Media Distribution Growth (1970s-1990s)</a:t>
            </a:r>
          </a:p>
        </p:txBody>
      </p:sp>
      <p:sp>
        <p:nvSpPr>
          <p:cNvPr id="7" name="TextBox 6"/>
          <p:cNvSpPr txBox="1"/>
          <p:nvPr/>
        </p:nvSpPr>
        <p:spPr>
          <a:xfrm>
            <a:off x="5029200" y="3108960"/>
            <a:ext cx="3657600" cy="2743200"/>
          </a:xfrm>
          <a:prstGeom prst="rect">
            <a:avLst/>
          </a:prstGeom>
          <a:noFill/>
          <a:ln w="9525">
            <a:noFill/>
          </a:ln>
        </p:spPr>
        <p:txBody>
          <a:bodyPr wrap="square">
            <a:normAutofit/>
          </a:bodyPr>
          <a:lstStyle/>
          <a:p>
            <a:pPr algn="just">
              <a:defRPr sz="1400">
                <a:solidFill>
                  <a:srgbClr val="F9FAFB"/>
                </a:solidFill>
                <a:latin typeface="Lato"/>
              </a:defRPr>
            </a:pPr>
            <a:r>
              <a:t>Satellite TV and international radio expanded global reach in the 1970s-80s. By the 1990s, cable networks and home video (VHS, Betamax) enabled cross-border content sharing. The internet’s rise in late 1990s disrupted traditional media, enabling global streaming and digital piracy. Hollywood, Bollywood, and J-pop gained international audiences, while local media industries adapted to transnational competition.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1371600"/>
            <a:ext cx="3657600" cy="2743200"/>
          </a:xfrm>
          <a:prstGeom prst="rect">
            <a:avLst/>
          </a:prstGeom>
          <a:noFill/>
          <a:ln w="9525">
            <a:noFill/>
          </a:ln>
        </p:spPr>
        <p:txBody>
          <a:bodyPr wrap="square">
            <a:normAutofit/>
          </a:bodyPr>
          <a:lstStyle/>
          <a:p>
            <a:pPr algn="just">
              <a:defRPr sz="1800">
                <a:solidFill>
                  <a:srgbClr val="F9FAFB"/>
                </a:solidFill>
                <a:latin typeface="Lato"/>
              </a:defRPr>
            </a:pPr>
            <a:r>
              <a:t>Original sketches relied on hand-drawn frames and analog tools. Animators used pencil, ink, and paper to create frame-by-frame sequences. Limited by physical constraints, these methods required extensive time for fluid motion and depth.</a:t>
            </a:r>
          </a:p>
        </p:txBody>
      </p:sp>
      <p:sp>
        <p:nvSpPr>
          <p:cNvPr id="3" name="TextBox 2"/>
          <p:cNvSpPr txBox="1"/>
          <p:nvPr/>
        </p:nvSpPr>
        <p:spPr>
          <a:xfrm>
            <a:off x="5029200" y="3200400"/>
            <a:ext cx="3657600" cy="2743200"/>
          </a:xfrm>
          <a:prstGeom prst="rect">
            <a:avLst/>
          </a:prstGeom>
          <a:noFill/>
          <a:ln w="9525">
            <a:noFill/>
          </a:ln>
        </p:spPr>
        <p:txBody>
          <a:bodyPr wrap="square">
            <a:normAutofit/>
          </a:bodyPr>
          <a:lstStyle/>
          <a:p>
            <a:pPr algn="just">
              <a:defRPr sz="1800">
                <a:solidFill>
                  <a:srgbClr val="F9FAFB"/>
                </a:solidFill>
                <a:latin typeface="Lato"/>
              </a:defRPr>
            </a:pPr>
            <a:r>
              <a:t>Modern renderings leverage 3D software and real-time engines. Tools like Blender and Unreal Engine enable dynamic lighting, physics, and motion capture integration. Automated rigging and GPU acceleration drastically reduce production time while increasing visual complexity.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457200"/>
            <a:ext cx="9144000" cy="109728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8229600" cy="914400"/>
          </a:xfrm>
          <a:prstGeom prst="rect">
            <a:avLst/>
          </a:prstGeom>
          <a:noFill/>
          <a:ln w="9525">
            <a:noFill/>
          </a:ln>
        </p:spPr>
        <p:txBody>
          <a:bodyPr wrap="square">
            <a:normAutofit/>
          </a:bodyPr>
          <a:lstStyle/>
          <a:p>
            <a:pPr algn="just">
              <a:defRPr sz="3000">
                <a:solidFill>
                  <a:srgbClr val="F9FAFB"/>
                </a:solidFill>
                <a:latin typeface="Playfair Display"/>
              </a:defRPr>
            </a:pPr>
            <a:r>
              <a:t>Global Cultural Impact: Key Statistics</a:t>
            </a:r>
          </a:p>
        </p:txBody>
      </p:sp>
      <p:sp>
        <p:nvSpPr>
          <p:cNvPr id="4" name="TextBox 3"/>
          <p:cNvSpPr txBox="1"/>
          <p:nvPr/>
        </p:nvSpPr>
        <p:spPr>
          <a:xfrm>
            <a:off x="914400" y="2011680"/>
            <a:ext cx="7315200" cy="4114800"/>
          </a:xfrm>
          <a:prstGeom prst="rect">
            <a:avLst/>
          </a:prstGeom>
          <a:noFill/>
          <a:ln w="9525">
            <a:noFill/>
          </a:ln>
        </p:spPr>
        <p:txBody>
          <a:bodyPr wrap="square">
            <a:normAutofit/>
          </a:bodyPr>
          <a:lstStyle/>
          <a:p>
            <a:pPr algn="just">
              <a:defRPr sz="1800">
                <a:solidFill>
                  <a:srgbClr val="F9FAFB"/>
                </a:solidFill>
                <a:latin typeface="Lato"/>
              </a:defRPr>
            </a:pPr>
            <a:r>
              <a:t>• Over 4.5 billion monthly active users across major social platforms drive real-time cultural conversations.</a:t>
            </a:r>
          </a:p>
          <a:p>
            <a:pPr algn="just">
              <a:defRPr sz="1800">
                <a:solidFill>
                  <a:srgbClr val="F9FAFB"/>
                </a:solidFill>
              </a:defRPr>
            </a:pPr>
            <a:r>
              <a:t>• Top 10 global box office hits collectively surpass $15 billion annually, reflecting cinematic influence.</a:t>
            </a:r>
          </a:p>
          <a:p>
            <a:pPr algn="just">
              <a:defRPr sz="1800">
                <a:solidFill>
                  <a:srgbClr val="F9FAFB"/>
                </a:solidFill>
              </a:defRPr>
            </a:pPr>
            <a:r>
              <a:t>• Streaming services report 1.2 trillion annual song streams, reshaping music consumption habits.</a:t>
            </a:r>
          </a:p>
          <a:p>
            <a:pPr algn="just">
              <a:defRPr sz="1800">
                <a:solidFill>
                  <a:srgbClr val="F9FAFB"/>
                </a:solidFill>
              </a:defRPr>
            </a:pPr>
            <a:r>
              <a:t>• International festivals attract 200+ million attendees yearly, fostering cross-cultural exchange.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a:ln w="9525">
            <a:noFill/>
          </a:ln>
        </p:spPr>
        <p:txBody>
          <a:bodyPr wrap="square">
            <a:normAutofit/>
          </a:bodyPr>
          <a:lstStyle/>
          <a:p>
            <a:pPr algn="just">
              <a:defRPr sz="3000">
                <a:solidFill>
                  <a:srgbClr val="F9FAFB"/>
                </a:solidFill>
                <a:latin typeface="Lato"/>
              </a:defRPr>
            </a:pPr>
            <a:r>
              <a:t>Mickey Mouse: The Timeless Disney Icon</a:t>
            </a:r>
          </a:p>
        </p:txBody>
      </p:sp>
      <p:sp>
        <p:nvSpPr>
          <p:cNvPr id="3" name="TextBox 2"/>
          <p:cNvSpPr txBox="1"/>
          <p:nvPr/>
        </p:nvSpPr>
        <p:spPr>
          <a:xfrm>
            <a:off x="457200" y="1645920"/>
            <a:ext cx="2560320" cy="548640"/>
          </a:xfrm>
          <a:prstGeom prst="rect">
            <a:avLst/>
          </a:prstGeom>
          <a:noFill/>
          <a:ln w="9525">
            <a:noFill/>
          </a:ln>
        </p:spPr>
        <p:txBody>
          <a:bodyPr wrap="square">
            <a:normAutofit/>
          </a:bodyPr>
          <a:lstStyle/>
          <a:p>
            <a:pPr algn="just">
              <a:defRPr sz="2200">
                <a:solidFill>
                  <a:srgbClr val="F9FAFB"/>
                </a:solidFill>
                <a:latin typeface="Lato"/>
              </a:defRPr>
            </a:pPr>
            <a:r>
              <a:t>Origins &amp; Legacy</a:t>
            </a:r>
          </a:p>
        </p:txBody>
      </p:sp>
      <p:sp>
        <p:nvSpPr>
          <p:cNvPr id="4" name="TextBox 3"/>
          <p:cNvSpPr txBox="1"/>
          <p:nvPr/>
        </p:nvSpPr>
        <p:spPr>
          <a:xfrm>
            <a:off x="457200" y="2377440"/>
            <a:ext cx="2560320" cy="3657600"/>
          </a:xfrm>
          <a:prstGeom prst="rect">
            <a:avLst/>
          </a:prstGeom>
          <a:noFill/>
          <a:ln w="9525">
            <a:noFill/>
          </a:ln>
        </p:spPr>
        <p:txBody>
          <a:bodyPr wrap="square">
            <a:normAutofit/>
          </a:bodyPr>
          <a:lstStyle/>
          <a:p>
            <a:pPr algn="just">
              <a:defRPr sz="1700">
                <a:solidFill>
                  <a:srgbClr val="F9FAFB"/>
                </a:solidFill>
                <a:latin typeface="Lato"/>
              </a:defRPr>
            </a:pPr>
            <a:r>
              <a:t>Debuted in 1928's 'Steamboat Willie,' Mickey established Disney as a creative force. His simple, expressive design—rounded ears, friendly eyes—transcends language barriers, making him universally recognizable. Over 95 years, he remains a symbol of childhood wonder.</a:t>
            </a:r>
          </a:p>
        </p:txBody>
      </p:sp>
      <p:sp>
        <p:nvSpPr>
          <p:cNvPr id="5" name="TextBox 4"/>
          <p:cNvSpPr txBox="1"/>
          <p:nvPr/>
        </p:nvSpPr>
        <p:spPr>
          <a:xfrm>
            <a:off x="3291840" y="1645920"/>
            <a:ext cx="2560320" cy="548640"/>
          </a:xfrm>
          <a:prstGeom prst="rect">
            <a:avLst/>
          </a:prstGeom>
          <a:noFill/>
          <a:ln w="9525">
            <a:noFill/>
          </a:ln>
        </p:spPr>
        <p:txBody>
          <a:bodyPr wrap="square">
            <a:normAutofit/>
          </a:bodyPr>
          <a:lstStyle/>
          <a:p>
            <a:pPr algn="just">
              <a:defRPr sz="1800">
                <a:solidFill>
                  <a:srgbClr val="F9FAFB"/>
                </a:solidFill>
                <a:latin typeface="Lato"/>
              </a:defRPr>
            </a:pPr>
            <a:r>
              <a:t>Personality &amp; Temperament</a:t>
            </a:r>
          </a:p>
        </p:txBody>
      </p:sp>
      <p:sp>
        <p:nvSpPr>
          <p:cNvPr id="6" name="TextBox 5"/>
          <p:cNvSpPr txBox="1"/>
          <p:nvPr/>
        </p:nvSpPr>
        <p:spPr>
          <a:xfrm>
            <a:off x="3291840" y="2377440"/>
            <a:ext cx="2560320" cy="3657600"/>
          </a:xfrm>
          <a:prstGeom prst="rect">
            <a:avLst/>
          </a:prstGeom>
          <a:noFill/>
          <a:ln w="9525">
            <a:noFill/>
          </a:ln>
        </p:spPr>
        <p:txBody>
          <a:bodyPr wrap="square">
            <a:normAutofit/>
          </a:bodyPr>
          <a:lstStyle/>
          <a:p>
            <a:pPr algn="just">
              <a:defRPr sz="1700">
                <a:solidFill>
                  <a:srgbClr val="F9FAFB"/>
                </a:solidFill>
                <a:latin typeface="Lato"/>
              </a:defRPr>
            </a:pPr>
            <a:r>
              <a:t>Mickey's cheerful optimism contrasts with Donald Duck's short temper and Elsa's regal reserve. His adaptability—hero, everyman, leader—allows storytelling flexibility. Unlike characters bound to specific arcs, Mickey thrives in diverse roles from slapstick to sci-fi.</a:t>
            </a:r>
          </a:p>
        </p:txBody>
      </p:sp>
      <p:sp>
        <p:nvSpPr>
          <p:cNvPr id="7" name="TextBox 6"/>
          <p:cNvSpPr txBox="1"/>
          <p:nvPr/>
        </p:nvSpPr>
        <p:spPr>
          <a:xfrm>
            <a:off x="6126480" y="1645920"/>
            <a:ext cx="2560320" cy="548640"/>
          </a:xfrm>
          <a:prstGeom prst="rect">
            <a:avLst/>
          </a:prstGeom>
          <a:noFill/>
          <a:ln w="9525">
            <a:noFill/>
          </a:ln>
        </p:spPr>
        <p:txBody>
          <a:bodyPr wrap="square">
            <a:normAutofit/>
          </a:bodyPr>
          <a:lstStyle/>
          <a:p>
            <a:pPr algn="just">
              <a:defRPr sz="1800">
                <a:solidFill>
                  <a:srgbClr val="F9FAFB"/>
                </a:solidFill>
                <a:latin typeface="Lato"/>
              </a:defRPr>
            </a:pPr>
            <a:r>
              <a:t>Cultural Symbolism &amp; Evolution</a:t>
            </a:r>
          </a:p>
        </p:txBody>
      </p:sp>
      <p:sp>
        <p:nvSpPr>
          <p:cNvPr id="8" name="TextBox 7"/>
          <p:cNvSpPr txBox="1"/>
          <p:nvPr/>
        </p:nvSpPr>
        <p:spPr>
          <a:xfrm>
            <a:off x="6126480" y="2377440"/>
            <a:ext cx="2560320" cy="3657600"/>
          </a:xfrm>
          <a:prstGeom prst="rect">
            <a:avLst/>
          </a:prstGeom>
          <a:noFill/>
          <a:ln w="9525">
            <a:noFill/>
          </a:ln>
        </p:spPr>
        <p:txBody>
          <a:bodyPr wrap="square">
            <a:normAutofit/>
          </a:bodyPr>
          <a:lstStyle/>
          <a:p>
            <a:pPr algn="just">
              <a:defRPr sz="1700">
                <a:solidFill>
                  <a:srgbClr val="F9FAFB"/>
                </a:solidFill>
                <a:latin typeface="Lato"/>
              </a:defRPr>
            </a:pPr>
            <a:r>
              <a:t>While Elsa represents modern empowerment and Donald embodies relatable frustration, Mickey symbolizes pure joy. His design updates (e.g., 2018 'Walt Disney: The Exhibition') maintain relevance without losing his 1928 essence, bridging generations of audiences worldwide.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1828800" y="731520"/>
            <a:ext cx="5486400" cy="914400"/>
          </a:xfrm>
          <a:prstGeom prst="rect">
            <a:avLst/>
          </a:prstGeom>
          <a:noFill/>
          <a:ln w="9525">
            <a:noFill/>
          </a:ln>
        </p:spPr>
        <p:txBody>
          <a:bodyPr wrap="square">
            <a:normAutofit/>
          </a:bodyPr>
          <a:lstStyle/>
          <a:p>
            <a:pPr algn="just">
              <a:defRPr sz="2900">
                <a:solidFill>
                  <a:srgbClr val="F9FAFB"/>
                </a:solidFill>
                <a:latin typeface="Playfair Display"/>
              </a:defRPr>
            </a:pPr>
            <a:r>
              <a:t>Mickey Mouse: A Timeless Symbol of Innovation and Joy</a:t>
            </a:r>
          </a:p>
        </p:txBody>
      </p:sp>
      <p:sp>
        <p:nvSpPr>
          <p:cNvPr id="3" name="TextBox 2"/>
          <p:cNvSpPr txBox="1"/>
          <p:nvPr/>
        </p:nvSpPr>
        <p:spPr>
          <a:xfrm>
            <a:off x="1828800" y="2011680"/>
            <a:ext cx="5486400" cy="4114800"/>
          </a:xfrm>
          <a:prstGeom prst="rect">
            <a:avLst/>
          </a:prstGeom>
          <a:noFill/>
          <a:ln w="9525">
            <a:noFill/>
          </a:ln>
        </p:spPr>
        <p:txBody>
          <a:bodyPr wrap="square">
            <a:normAutofit/>
          </a:bodyPr>
          <a:lstStyle/>
          <a:p>
            <a:pPr algn="just">
              <a:defRPr sz="1800">
                <a:solidFill>
                  <a:srgbClr val="F9FAFB"/>
                </a:solidFill>
                <a:latin typeface="Lato"/>
              </a:defRPr>
            </a:pPr>
            <a:r>
              <a:t>Debuted in Steamboat Willie (1928), Mickey revolutionized animation through synchronized sound, expressive character design, and relatable storytelling. His global appeal transcended language barriers, becoming a universal icon for Disney's storytelling empire. From merchandise to theme parks, Mickey remains a cornerstone of cultural nostalgia while adapting to modern audiences. His legacy reflects evolving societal values, including inclusivity and environmental stewardship, ensuring relevance across generations.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